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Synchronous</c:v>
                </c:pt>
              </c:strCache>
            </c:strRef>
          </c:tx>
          <c:spPr>
            <a:solidFill>
              <a:srgbClr val="14213D"/>
            </a:solidFill>
            <a:effectLst/>
          </c:spPr>
          <c:invertIfNegative val="0"/>
          <c:dLbls>
            <c:numFmt formatCode="0.00&quot; s&quot;" sourceLinked="0"/>
            <c:txPr>
              <a:bodyPr/>
              <a:lstStyle/>
              <a:p>
                <a:pPr>
                  <a:defRPr b="0" i="0" strike="noStrike" sz="1000" u="none">
                    <a:solidFill>
                      <a:srgbClr val="1F2937"/>
                    </a:solidFill>
                    <a:latin typeface="Calibri"/>
                  </a:defRPr>
                </a:pPr>
              </a:p>
            </c:txPr>
            <c:showLegendKey val="0"/>
            <c:showVal val="1"/>
            <c:showCatName val="0"/>
            <c:showSerName val="0"/>
            <c:showPercent val="0"/>
            <c:showBubbleSize val="0"/>
            <c:showLeaderLines val="0"/>
          </c:dLbls>
          <c:cat>
            <c:multiLvlStrRef>
              <c:f>Sheet1!$A$2:$A$3</c:f>
              <c:multiLvlStrCache>
                <c:ptCount val="2"/>
                <c:lvl>
                  <c:pt idx="0">
                    <c:v>10 searches (sync: one by one)</c:v>
                  </c:pt>
                  <c:pt idx="1">
                    <c:v>50 searches (sync: 10 threads)</c:v>
                  </c:pt>
                </c:lvl>
              </c:multiLvlStrCache>
            </c:multiLvlStrRef>
          </c:cat>
          <c:val>
            <c:numRef>
              <c:f>Sheet1!$B$2:$B$3</c:f>
              <c:numCache>
                <c:formatCode>General</c:formatCode>
                <c:ptCount val="2"/>
                <c:pt idx="0">
                  <c:v>5.01</c:v>
                </c:pt>
                <c:pt idx="1">
                  <c:v>2.52</c:v>
                </c:pt>
              </c:numCache>
            </c:numRef>
          </c:val>
        </c:ser>
        <c:ser>
          <c:idx val="1"/>
          <c:order val="1"/>
          <c:tx>
            <c:strRef>
              <c:f>Sheet1!$C$1</c:f>
              <c:strCache>
                <c:ptCount val="1"/>
                <c:pt idx="0">
                  <c:v>Asynchronous</c:v>
                </c:pt>
              </c:strCache>
            </c:strRef>
          </c:tx>
          <c:spPr>
            <a:solidFill>
              <a:srgbClr val="0F8B8D"/>
            </a:solidFill>
            <a:effectLst/>
          </c:spPr>
          <c:invertIfNegative val="0"/>
          <c:dLbls>
            <c:numFmt formatCode="0.00&quot; s&quot;" sourceLinked="0"/>
            <c:txPr>
              <a:bodyPr/>
              <a:lstStyle/>
              <a:p>
                <a:pPr>
                  <a:defRPr b="0" i="0" strike="noStrike" sz="1000" u="none">
                    <a:solidFill>
                      <a:srgbClr val="1F2937"/>
                    </a:solidFill>
                    <a:latin typeface="Calibri"/>
                  </a:defRPr>
                </a:pPr>
              </a:p>
            </c:txPr>
            <c:showLegendKey val="0"/>
            <c:showVal val="1"/>
            <c:showCatName val="0"/>
            <c:showSerName val="0"/>
            <c:showPercent val="0"/>
            <c:showBubbleSize val="0"/>
            <c:showLeaderLines val="0"/>
          </c:dLbls>
          <c:cat>
            <c:multiLvlStrRef>
              <c:f>Sheet1!$A$2:$A$3</c:f>
              <c:multiLvlStrCache>
                <c:ptCount val="2"/>
                <c:lvl>
                  <c:pt idx="0">
                    <c:v>10 searches (sync: one by one)</c:v>
                  </c:pt>
                  <c:pt idx="1">
                    <c:v>50 searches (sync: 10 threads)</c:v>
                  </c:pt>
                </c:lvl>
              </c:multiLvlStrCache>
            </c:multiLvlStrRef>
          </c:cat>
          <c:val>
            <c:numRef>
              <c:f>Sheet1!$C$2:$C$3</c:f>
              <c:numCache>
                <c:formatCode>General</c:formatCode>
                <c:ptCount val="2"/>
                <c:pt idx="0">
                  <c:v>0.51</c:v>
                </c:pt>
                <c:pt idx="1">
                  <c:v>0.51</c:v>
                </c:pt>
              </c:numCache>
            </c:numRef>
          </c:val>
        </c:ser>
        <c:dLbls>
          <c:numFmt formatCode="0.00&quot; s&quot;" sourceLinked="0"/>
          <c:txPr>
            <a:bodyPr/>
            <a:lstStyle/>
            <a:p>
              <a:pPr>
                <a:defRPr b="0" i="0" strike="noStrike" sz="1000" u="none">
                  <a:solidFill>
                    <a:srgbClr val="1F2937"/>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6"/>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spotlight, asynchronous side (about 1.5 minutes). The contract rental.proto and the OOP classes are exactly the same as in the synchronous server. Only three things change: handlers are async def, the artificial delay is await asyncio.sleep instead of time.sleep, and the server is grpc.aio.server running on one asyncio event loop instead of a thread pool. On the client, asyncio.gather starts all ten SearchBooks calls at once. The OOP methods are fast and have no I/O, so they are called directly without await; the lock in RentalManager is never held across an await, so it cannot deadlock.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slide (about 2 minutes). Show the two terminals, or the recording: start async_server.py with --delay 0.5, run async_client.py. Demo 1 shows normal awaited calls (rent, out of stock, unknown book, stock check, return). Demo 2 sends ten searches at once and all ten answers arrive after about 0.5 s, not 5 s. The chart comes from compare_sync_async.py: 5.01 s sequential versus 0.51 s with asyncio.gather. Be accurate when asked: a thread-pool sync server can also serve parallel clients (50 threaded requests on 10 workers took 2.52 s), but it is limited by the pool size, while the async server handled 50 in 0.51 s on one thread. The delay is simulated; the benefit applies when requests spend their time waiting, not computing.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1E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5  Asynchronous gRPC</a:t>
            </a:r>
            <a:endParaRPr lang="en-US" sz="2800" dirty="0"/>
          </a:p>
        </p:txBody>
      </p:sp>
      <p:sp>
        <p:nvSpPr>
          <p:cNvPr id="3" name="Text 1"/>
          <p:cNvSpPr txBox="1"/>
          <p:nvPr/>
        </p:nvSpPr>
        <p:spPr>
          <a:xfrm>
            <a:off x="457200" y="822960"/>
            <a:ext cx="8229600" cy="36576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Same contract, same OOP classes. Handlers become async def and one event loop serves every request.</a:t>
            </a:r>
            <a:endParaRPr lang="en-US" sz="1400" dirty="0"/>
          </a:p>
        </p:txBody>
      </p:sp>
      <p:sp>
        <p:nvSpPr>
          <p:cNvPr id="4" name="CodePanel"/>
          <p:cNvSpPr/>
          <p:nvPr/>
        </p:nvSpPr>
        <p:spPr>
          <a:xfrm>
            <a:off x="457200" y="1325880"/>
            <a:ext cx="4297680" cy="3291840"/>
          </a:xfrm>
          <a:prstGeom prst="rect">
            <a:avLst/>
          </a:prstGeom>
          <a:solidFill>
            <a:srgbClr val="14213D"/>
          </a:solidFill>
          <a:ln w="12700">
            <a:solidFill>
              <a:srgbClr val="14213D"/>
            </a:solidFill>
            <a:prstDash val="solid"/>
          </a:ln>
        </p:spPr>
      </p:sp>
      <p:sp>
        <p:nvSpPr>
          <p:cNvPr id="5" name="CodeText"/>
          <p:cNvSpPr txBox="1"/>
          <p:nvPr/>
        </p:nvSpPr>
        <p:spPr>
          <a:xfrm>
            <a:off x="594360" y="1417320"/>
            <a:ext cx="4069080" cy="3108960"/>
          </a:xfrm>
          <a:prstGeom prst="rect">
            <a:avLst/>
          </a:prstGeom>
          <a:noFill/>
          <a:ln/>
        </p:spPr>
        <p:txBody>
          <a:bodyPr wrap="square" lIns="0" tIns="0" rIns="0" bIns="0" rtlCol="0" anchor="t"/>
          <a:lstStyle/>
          <a:p>
            <a:pPr indent="0" marL="0">
              <a:buNone/>
            </a:pPr>
            <a:r>
              <a:rPr lang="en-US" sz="950" dirty="0">
                <a:solidFill>
                  <a:srgbClr val="8FB8DE"/>
                </a:solidFill>
                <a:latin typeface="Consolas" pitchFamily="34" charset="0"/>
                <a:ea typeface="Consolas" pitchFamily="34" charset="-122"/>
                <a:cs typeface="Consolas" pitchFamily="34" charset="-120"/>
              </a:rPr>
              <a:t># async_server.py</a:t>
            </a:r>
            <a:endParaRPr lang="en-US" sz="950" dirty="0"/>
          </a:p>
          <a:p>
            <a:pPr indent="0" marL="0">
              <a:buNone/>
            </a:pPr>
            <a:r>
              <a:rPr lang="en-US" sz="950" dirty="0">
                <a:solidFill>
                  <a:srgbClr val="E6EDF3"/>
                </a:solidFill>
                <a:latin typeface="Consolas" pitchFamily="34" charset="0"/>
                <a:ea typeface="Consolas" pitchFamily="34" charset="-122"/>
                <a:cs typeface="Consolas" pitchFamily="34" charset="-120"/>
              </a:rPr>
              <a:t>class AsyncRentalServicer(RentalServiceServicer):</a:t>
            </a:r>
            <a:endParaRPr lang="en-US" sz="950" dirty="0"/>
          </a:p>
          <a:p>
            <a:pPr indent="0" marL="0">
              <a:buNone/>
            </a:pPr>
            <a:r>
              <a:rPr lang="en-US" sz="950" dirty="0">
                <a:solidFill>
                  <a:srgbClr val="E6EDF3"/>
                </a:solidFill>
                <a:latin typeface="Consolas" pitchFamily="34" charset="0"/>
                <a:ea typeface="Consolas" pitchFamily="34" charset="-122"/>
                <a:cs typeface="Consolas" pitchFamily="34" charset="-120"/>
              </a:rPr>
              <a:t>  async def SearchBooks(self, request, context):</a:t>
            </a:r>
            <a:endParaRPr lang="en-US" sz="950" dirty="0"/>
          </a:p>
          <a:p>
            <a:pPr indent="0" marL="0">
              <a:buNone/>
            </a:pPr>
            <a:r>
              <a:rPr lang="en-US" sz="950" dirty="0">
                <a:solidFill>
                  <a:srgbClr val="E6EDF3"/>
                </a:solidFill>
                <a:latin typeface="Consolas" pitchFamily="34" charset="0"/>
                <a:ea typeface="Consolas" pitchFamily="34" charset="-122"/>
                <a:cs typeface="Consolas" pitchFamily="34" charset="-120"/>
              </a:rPr>
              <a:t>    await asyncio.sleep(self.delay)  # yields the loop</a:t>
            </a:r>
            <a:endParaRPr lang="en-US" sz="950" dirty="0"/>
          </a:p>
          <a:p>
            <a:pPr indent="0" marL="0">
              <a:buNone/>
            </a:pPr>
            <a:r>
              <a:rPr lang="en-US" sz="950" dirty="0">
                <a:solidFill>
                  <a:srgbClr val="E6EDF3"/>
                </a:solidFill>
                <a:latin typeface="Consolas" pitchFamily="34" charset="0"/>
                <a:ea typeface="Consolas" pitchFamily="34" charset="-122"/>
                <a:cs typeface="Consolas" pitchFamily="34" charset="-120"/>
              </a:rPr>
              <a:t>    books = self.catalog.search_books(request.keyword)</a:t>
            </a:r>
            <a:endParaRPr lang="en-US" sz="950" dirty="0"/>
          </a:p>
          <a:p>
            <a:pPr indent="0" marL="0">
              <a:buNone/>
            </a:pPr>
            <a:r>
              <a:rPr lang="en-US" sz="950" dirty="0">
                <a:solidFill>
                  <a:srgbClr val="E6EDF3"/>
                </a:solidFill>
                <a:latin typeface="Consolas" pitchFamily="34" charset="0"/>
                <a:ea typeface="Consolas" pitchFamily="34" charset="-122"/>
                <a:cs typeface="Consolas" pitchFamily="34" charset="-120"/>
              </a:rPr>
              <a:t>    return SearchResponse(</a:t>
            </a:r>
            <a:endParaRPr lang="en-US" sz="950" dirty="0"/>
          </a:p>
          <a:p>
            <a:pPr indent="0" marL="0">
              <a:buNone/>
            </a:pPr>
            <a:r>
              <a:rPr lang="en-US" sz="950" dirty="0">
                <a:solidFill>
                  <a:srgbClr val="E6EDF3"/>
                </a:solidFill>
                <a:latin typeface="Consolas" pitchFamily="34" charset="0"/>
                <a:ea typeface="Consolas" pitchFamily="34" charset="-122"/>
                <a:cs typeface="Consolas" pitchFamily="34" charset="-120"/>
              </a:rPr>
              <a:t>        books=[book_to_pb(b) for b in books])</a:t>
            </a:r>
            <a:endParaRPr lang="en-US" sz="950" dirty="0"/>
          </a:p>
          <a:p>
            <a:pPr indent="0" marL="0">
              <a:buNone/>
            </a:pPr>
            <a:endParaRPr lang="en-US" sz="950" dirty="0"/>
          </a:p>
          <a:p>
            <a:pPr indent="0" marL="0">
              <a:buNone/>
            </a:pPr>
            <a:r>
              <a:rPr lang="en-US" sz="950" dirty="0">
                <a:solidFill>
                  <a:srgbClr val="E6EDF3"/>
                </a:solidFill>
                <a:latin typeface="Consolas" pitchFamily="34" charset="0"/>
                <a:ea typeface="Consolas" pitchFamily="34" charset="-122"/>
                <a:cs typeface="Consolas" pitchFamily="34" charset="-120"/>
              </a:rPr>
              <a:t>server = grpc.aio.server()      # one event loop</a:t>
            </a:r>
            <a:endParaRPr lang="en-US" sz="950" dirty="0"/>
          </a:p>
          <a:p>
            <a:pPr indent="0" marL="0">
              <a:buNone/>
            </a:pPr>
            <a:r>
              <a:rPr lang="en-US" sz="950" dirty="0">
                <a:solidFill>
                  <a:srgbClr val="E6EDF3"/>
                </a:solidFill>
                <a:latin typeface="Consolas" pitchFamily="34" charset="0"/>
                <a:ea typeface="Consolas" pitchFamily="34" charset="-122"/>
                <a:cs typeface="Consolas" pitchFamily="34" charset="-120"/>
              </a:rPr>
              <a:t>await server.start()            # port 50052</a:t>
            </a:r>
            <a:endParaRPr lang="en-US" sz="950" dirty="0"/>
          </a:p>
          <a:p>
            <a:pPr indent="0" marL="0">
              <a:buNone/>
            </a:pPr>
            <a:endParaRPr lang="en-US" sz="950" dirty="0"/>
          </a:p>
          <a:p>
            <a:pPr indent="0" marL="0">
              <a:buNone/>
            </a:pPr>
            <a:r>
              <a:rPr lang="en-US" sz="950" dirty="0">
                <a:solidFill>
                  <a:srgbClr val="8FB8DE"/>
                </a:solidFill>
                <a:latin typeface="Consolas" pitchFamily="34" charset="0"/>
                <a:ea typeface="Consolas" pitchFamily="34" charset="-122"/>
                <a:cs typeface="Consolas" pitchFamily="34" charset="-120"/>
              </a:rPr>
              <a:t># async_client.py: 10 searches in flight together</a:t>
            </a:r>
            <a:endParaRPr lang="en-US" sz="950" dirty="0"/>
          </a:p>
          <a:p>
            <a:pPr indent="0" marL="0">
              <a:buNone/>
            </a:pPr>
            <a:r>
              <a:rPr lang="en-US" sz="950" dirty="0">
                <a:solidFill>
                  <a:srgbClr val="E6EDF3"/>
                </a:solidFill>
                <a:latin typeface="Consolas" pitchFamily="34" charset="0"/>
                <a:ea typeface="Consolas" pitchFamily="34" charset="-122"/>
                <a:cs typeface="Consolas" pitchFamily="34" charset="-120"/>
              </a:rPr>
              <a:t>results = await asyncio.gather(</a:t>
            </a:r>
            <a:endParaRPr lang="en-US" sz="950" dirty="0"/>
          </a:p>
          <a:p>
            <a:pPr indent="0" marL="0">
              <a:buNone/>
            </a:pPr>
            <a:r>
              <a:rPr lang="en-US" sz="950" dirty="0">
                <a:solidFill>
                  <a:srgbClr val="E6EDF3"/>
                </a:solidFill>
                <a:latin typeface="Consolas" pitchFamily="34" charset="0"/>
                <a:ea typeface="Consolas" pitchFamily="34" charset="-122"/>
                <a:cs typeface="Consolas" pitchFamily="34" charset="-120"/>
              </a:rPr>
              <a:t>    *(stub.SearchBooks(req(k), timeout=5)</a:t>
            </a:r>
            <a:endParaRPr lang="en-US" sz="950" dirty="0"/>
          </a:p>
          <a:p>
            <a:pPr indent="0" marL="0">
              <a:buNone/>
            </a:pPr>
            <a:r>
              <a:rPr lang="en-US" sz="950" dirty="0">
                <a:solidFill>
                  <a:srgbClr val="E6EDF3"/>
                </a:solidFill>
                <a:latin typeface="Consolas" pitchFamily="34" charset="0"/>
                <a:ea typeface="Consolas" pitchFamily="34" charset="-122"/>
                <a:cs typeface="Consolas" pitchFamily="34" charset="-120"/>
              </a:rPr>
              <a:t>      for k in keywords))</a:t>
            </a:r>
            <a:endParaRPr lang="en-US" sz="950" dirty="0"/>
          </a:p>
        </p:txBody>
      </p:sp>
      <p:sp>
        <p:nvSpPr>
          <p:cNvPr id="6" name="Card0"/>
          <p:cNvSpPr/>
          <p:nvPr/>
        </p:nvSpPr>
        <p:spPr>
          <a:xfrm>
            <a:off x="5029200" y="1325880"/>
            <a:ext cx="3657600" cy="1005840"/>
          </a:xfrm>
          <a:prstGeom prst="rect">
            <a:avLst/>
          </a:prstGeom>
          <a:solidFill>
            <a:srgbClr val="FFFFFF"/>
          </a:solidFill>
          <a:ln w="9525">
            <a:solidFill>
              <a:srgbClr val="D9D4C7"/>
            </a:solidFill>
            <a:prstDash val="solid"/>
          </a:ln>
        </p:spPr>
      </p:sp>
      <p:sp>
        <p:nvSpPr>
          <p:cNvPr id="7" name="Badge0"/>
          <p:cNvSpPr/>
          <p:nvPr/>
        </p:nvSpPr>
        <p:spPr>
          <a:xfrm>
            <a:off x="5166360" y="1600200"/>
            <a:ext cx="457200" cy="457200"/>
          </a:xfrm>
          <a:prstGeom prst="ellipse">
            <a:avLst/>
          </a:prstGeom>
          <a:solidFill>
            <a:srgbClr val="0F8B8D"/>
          </a:solidFill>
          <a:ln w="12700">
            <a:solidFill>
              <a:srgbClr val="0F8B8D"/>
            </a:solidFill>
            <a:prstDash val="solid"/>
          </a:ln>
        </p:spPr>
      </p:sp>
      <p:sp>
        <p:nvSpPr>
          <p:cNvPr id="8" name="Text 6"/>
          <p:cNvSpPr txBox="1"/>
          <p:nvPr/>
        </p:nvSpPr>
        <p:spPr>
          <a:xfrm>
            <a:off x="5166360" y="16002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7"/>
          <p:cNvSpPr txBox="1"/>
          <p:nvPr/>
        </p:nvSpPr>
        <p:spPr>
          <a:xfrm>
            <a:off x="5760720" y="1399032"/>
            <a:ext cx="2834640" cy="85953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One thread, many requests</a:t>
            </a:r>
            <a:endParaRPr lang="en-US" sz="1400" dirty="0"/>
          </a:p>
          <a:p>
            <a:pPr indent="0" marL="0">
              <a:buNone/>
            </a:pPr>
            <a:r>
              <a:rPr lang="en-US" sz="1100" dirty="0">
                <a:solidFill>
                  <a:srgbClr val="1F2937"/>
                </a:solidFill>
                <a:latin typeface="Calibri" pitchFamily="34" charset="0"/>
                <a:ea typeface="Calibri" pitchFamily="34" charset="-122"/>
                <a:cs typeface="Calibri" pitchFamily="34" charset="-120"/>
              </a:rPr>
              <a:t>await hands control back while a request waits, so others run.</a:t>
            </a:r>
            <a:endParaRPr lang="en-US" sz="1400" dirty="0"/>
          </a:p>
        </p:txBody>
      </p:sp>
      <p:sp>
        <p:nvSpPr>
          <p:cNvPr id="10" name="Card1"/>
          <p:cNvSpPr/>
          <p:nvPr/>
        </p:nvSpPr>
        <p:spPr>
          <a:xfrm>
            <a:off x="5029200" y="2451049"/>
            <a:ext cx="3657600" cy="1005840"/>
          </a:xfrm>
          <a:prstGeom prst="rect">
            <a:avLst/>
          </a:prstGeom>
          <a:solidFill>
            <a:srgbClr val="FFFFFF"/>
          </a:solidFill>
          <a:ln w="9525">
            <a:solidFill>
              <a:srgbClr val="D9D4C7"/>
            </a:solidFill>
            <a:prstDash val="solid"/>
          </a:ln>
        </p:spPr>
      </p:sp>
      <p:sp>
        <p:nvSpPr>
          <p:cNvPr id="11" name="Badge1"/>
          <p:cNvSpPr/>
          <p:nvPr/>
        </p:nvSpPr>
        <p:spPr>
          <a:xfrm>
            <a:off x="5166360" y="2725369"/>
            <a:ext cx="457200" cy="457200"/>
          </a:xfrm>
          <a:prstGeom prst="ellipse">
            <a:avLst/>
          </a:prstGeom>
          <a:solidFill>
            <a:srgbClr val="0F8B8D"/>
          </a:solidFill>
          <a:ln w="12700">
            <a:solidFill>
              <a:srgbClr val="0F8B8D"/>
            </a:solidFill>
            <a:prstDash val="solid"/>
          </a:ln>
        </p:spPr>
      </p:sp>
      <p:sp>
        <p:nvSpPr>
          <p:cNvPr id="12" name="Text 10"/>
          <p:cNvSpPr txBox="1"/>
          <p:nvPr/>
        </p:nvSpPr>
        <p:spPr>
          <a:xfrm>
            <a:off x="5166360" y="2725369"/>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5760720" y="2524201"/>
            <a:ext cx="2834640" cy="85953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Never time.sleep</a:t>
            </a:r>
            <a:endParaRPr lang="en-US" sz="1400" dirty="0"/>
          </a:p>
          <a:p>
            <a:pPr indent="0" marL="0">
              <a:buNone/>
            </a:pPr>
            <a:r>
              <a:rPr lang="en-US" sz="1100" dirty="0">
                <a:solidFill>
                  <a:srgbClr val="1F2937"/>
                </a:solidFill>
                <a:latin typeface="Calibri" pitchFamily="34" charset="0"/>
                <a:ea typeface="Calibri" pitchFamily="34" charset="-122"/>
                <a:cs typeface="Calibri" pitchFamily="34" charset="-120"/>
              </a:rPr>
              <a:t>It would freeze the loop. The delay uses await asyncio.sleep.</a:t>
            </a:r>
            <a:endParaRPr lang="en-US" sz="1400" dirty="0"/>
          </a:p>
        </p:txBody>
      </p:sp>
      <p:sp>
        <p:nvSpPr>
          <p:cNvPr id="14" name="Card2"/>
          <p:cNvSpPr/>
          <p:nvPr/>
        </p:nvSpPr>
        <p:spPr>
          <a:xfrm>
            <a:off x="5029200" y="3576218"/>
            <a:ext cx="3657600" cy="1005840"/>
          </a:xfrm>
          <a:prstGeom prst="rect">
            <a:avLst/>
          </a:prstGeom>
          <a:solidFill>
            <a:srgbClr val="FFFFFF"/>
          </a:solidFill>
          <a:ln w="9525">
            <a:solidFill>
              <a:srgbClr val="D9D4C7"/>
            </a:solidFill>
            <a:prstDash val="solid"/>
          </a:ln>
        </p:spPr>
      </p:sp>
      <p:sp>
        <p:nvSpPr>
          <p:cNvPr id="15" name="Badge2"/>
          <p:cNvSpPr/>
          <p:nvPr/>
        </p:nvSpPr>
        <p:spPr>
          <a:xfrm>
            <a:off x="5166360" y="3850538"/>
            <a:ext cx="457200" cy="457200"/>
          </a:xfrm>
          <a:prstGeom prst="ellipse">
            <a:avLst/>
          </a:prstGeom>
          <a:solidFill>
            <a:srgbClr val="0F8B8D"/>
          </a:solidFill>
          <a:ln w="12700">
            <a:solidFill>
              <a:srgbClr val="0F8B8D"/>
            </a:solidFill>
            <a:prstDash val="solid"/>
          </a:ln>
        </p:spPr>
      </p:sp>
      <p:sp>
        <p:nvSpPr>
          <p:cNvPr id="16" name="Text 14"/>
          <p:cNvSpPr txBox="1"/>
          <p:nvPr/>
        </p:nvSpPr>
        <p:spPr>
          <a:xfrm>
            <a:off x="5166360" y="385053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5760720" y="3649370"/>
            <a:ext cx="2834640" cy="859536"/>
          </a:xfrm>
          <a:prstGeom prst="rect">
            <a:avLst/>
          </a:prstGeom>
          <a:noFill/>
          <a:ln/>
        </p:spPr>
        <p:txBody>
          <a:bodyPr wrap="square" lIns="0" tIns="0" rIns="0" bIns="0" rtlCol="0" anchor="ctr"/>
          <a:lstStyle/>
          <a:p>
            <a:pPr indent="0" marL="0">
              <a:buNone/>
            </a:pPr>
            <a:r>
              <a:rPr lang="en-US" sz="1400" b="1" dirty="0">
                <a:solidFill>
                  <a:srgbClr val="14213D"/>
                </a:solidFill>
                <a:latin typeface="Calibri" pitchFamily="34" charset="0"/>
                <a:ea typeface="Calibri" pitchFamily="34" charset="-122"/>
                <a:cs typeface="Calibri" pitchFamily="34" charset="-120"/>
              </a:rPr>
              <a:t>OOP code untouched</a:t>
            </a:r>
            <a:endParaRPr lang="en-US" sz="1400" dirty="0"/>
          </a:p>
          <a:p>
            <a:pPr indent="0" marL="0">
              <a:buNone/>
            </a:pPr>
            <a:r>
              <a:rPr lang="en-US" sz="1100" dirty="0">
                <a:solidFill>
                  <a:srgbClr val="1F2937"/>
                </a:solidFill>
                <a:latin typeface="Calibri" pitchFamily="34" charset="0"/>
                <a:ea typeface="Calibri" pitchFamily="34" charset="-122"/>
                <a:cs typeface="Calibri" pitchFamily="34" charset="-120"/>
              </a:rPr>
              <a:t>Same RentalManager and its lock: 20 rentals, exactly 1 winner.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2800" b="1" dirty="0">
                <a:solidFill>
                  <a:srgbClr val="14213D"/>
                </a:solidFill>
                <a:latin typeface="Calibri" pitchFamily="34" charset="0"/>
                <a:ea typeface="Calibri" pitchFamily="34" charset="-122"/>
                <a:cs typeface="Calibri" pitchFamily="34" charset="-120"/>
              </a:rPr>
              <a:t>6  Live Demo: Sync vs Async</a:t>
            </a:r>
            <a:endParaRPr lang="en-US" sz="2800" dirty="0"/>
          </a:p>
        </p:txBody>
      </p:sp>
      <p:sp>
        <p:nvSpPr>
          <p:cNvPr id="3" name="Text 1"/>
          <p:cNvSpPr txBox="1"/>
          <p:nvPr/>
        </p:nvSpPr>
        <p:spPr>
          <a:xfrm>
            <a:off x="457200" y="822960"/>
            <a:ext cx="8229600" cy="36576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10 student searches, server delay 0.5 s per request, one machine. Numbers come from compare_sync_async.py.</a:t>
            </a:r>
            <a:endParaRPr lang="en-US" sz="1400" dirty="0"/>
          </a:p>
        </p:txBody>
      </p:sp>
      <p:sp>
        <p:nvSpPr>
          <p:cNvPr id="4" name="ChartCard"/>
          <p:cNvSpPr/>
          <p:nvPr/>
        </p:nvSpPr>
        <p:spPr>
          <a:xfrm>
            <a:off x="457200" y="1325880"/>
            <a:ext cx="5029200" cy="2331720"/>
          </a:xfrm>
          <a:prstGeom prst="rect">
            <a:avLst/>
          </a:prstGeom>
          <a:solidFill>
            <a:srgbClr val="FFFFFF"/>
          </a:solidFill>
          <a:ln w="9525">
            <a:solidFill>
              <a:srgbClr val="D9D4C7"/>
            </a:solidFill>
            <a:prstDash val="solid"/>
          </a:ln>
        </p:spPr>
      </p:sp>
      <p:graphicFrame>
        <p:nvGraphicFramePr>
          <p:cNvPr id="5" name="Chart 0" descr=""/>
          <p:cNvGraphicFramePr/>
          <p:nvPr/>
        </p:nvGraphicFramePr>
        <p:xfrm>
          <a:off x="548640" y="1371600"/>
          <a:ext cx="4846320" cy="2240280"/>
        </p:xfrm>
        <a:graphic xmlns:a="http://schemas.openxmlformats.org/drawingml/2006/main">
          <a:graphicData uri="http://schemas.openxmlformats.org/drawingml/2006/chart">
            <c:chart xmlns:c="http://schemas.openxmlformats.org/drawingml/2006/chart" r:id="rId1"/>
          </a:graphicData>
        </a:graphic>
      </p:graphicFrame>
      <p:sp>
        <p:nvSpPr>
          <p:cNvPr id="6" name="Stat0"/>
          <p:cNvSpPr/>
          <p:nvPr/>
        </p:nvSpPr>
        <p:spPr>
          <a:xfrm>
            <a:off x="5715000" y="1325880"/>
            <a:ext cx="2971800" cy="1143000"/>
          </a:xfrm>
          <a:prstGeom prst="rect">
            <a:avLst/>
          </a:prstGeom>
          <a:solidFill>
            <a:srgbClr val="FFFFFF"/>
          </a:solidFill>
          <a:ln w="9525">
            <a:solidFill>
              <a:srgbClr val="D9D4C7"/>
            </a:solidFill>
            <a:prstDash val="solid"/>
          </a:ln>
        </p:spPr>
      </p:sp>
      <p:sp>
        <p:nvSpPr>
          <p:cNvPr id="7" name="Text 4"/>
          <p:cNvSpPr txBox="1"/>
          <p:nvPr/>
        </p:nvSpPr>
        <p:spPr>
          <a:xfrm>
            <a:off x="5852160" y="1417320"/>
            <a:ext cx="1143000" cy="594360"/>
          </a:xfrm>
          <a:prstGeom prst="rect">
            <a:avLst/>
          </a:prstGeom>
          <a:noFill/>
          <a:ln/>
        </p:spPr>
        <p:txBody>
          <a:bodyPr wrap="square" lIns="0" tIns="0" rIns="0" bIns="0" rtlCol="0" anchor="ctr"/>
          <a:lstStyle/>
          <a:p>
            <a:pPr indent="0" marL="0">
              <a:buNone/>
            </a:pPr>
            <a:r>
              <a:rPr lang="en-US" sz="3000" b="1" dirty="0">
                <a:solidFill>
                  <a:srgbClr val="0F8B8D"/>
                </a:solidFill>
                <a:latin typeface="Calibri" pitchFamily="34" charset="0"/>
                <a:ea typeface="Calibri" pitchFamily="34" charset="-122"/>
                <a:cs typeface="Calibri" pitchFamily="34" charset="-120"/>
              </a:rPr>
              <a:t>9.9x</a:t>
            </a:r>
            <a:endParaRPr lang="en-US" sz="3000" dirty="0"/>
          </a:p>
        </p:txBody>
      </p:sp>
      <p:sp>
        <p:nvSpPr>
          <p:cNvPr id="8" name="Text 5"/>
          <p:cNvSpPr txBox="1"/>
          <p:nvPr/>
        </p:nvSpPr>
        <p:spPr>
          <a:xfrm>
            <a:off x="5852160" y="1984248"/>
            <a:ext cx="1143000" cy="274320"/>
          </a:xfrm>
          <a:prstGeom prst="rect">
            <a:avLst/>
          </a:prstGeom>
          <a:noFill/>
          <a:ln/>
        </p:spPr>
        <p:txBody>
          <a:bodyPr wrap="square" lIns="0" tIns="0" rIns="0" bIns="0" rtlCol="0" anchor="t"/>
          <a:lstStyle/>
          <a:p>
            <a:pPr indent="0" marL="0">
              <a:buNone/>
            </a:pPr>
            <a:r>
              <a:rPr lang="en-US" sz="1100" b="1" dirty="0">
                <a:solidFill>
                  <a:srgbClr val="14213D"/>
                </a:solidFill>
                <a:latin typeface="Calibri" pitchFamily="34" charset="0"/>
                <a:ea typeface="Calibri" pitchFamily="34" charset="-122"/>
                <a:cs typeface="Calibri" pitchFamily="34" charset="-120"/>
              </a:rPr>
              <a:t>faster</a:t>
            </a:r>
            <a:endParaRPr lang="en-US" sz="1100" dirty="0"/>
          </a:p>
        </p:txBody>
      </p:sp>
      <p:sp>
        <p:nvSpPr>
          <p:cNvPr id="9" name="Text 6"/>
          <p:cNvSpPr txBox="1"/>
          <p:nvPr/>
        </p:nvSpPr>
        <p:spPr>
          <a:xfrm>
            <a:off x="7040880" y="1417320"/>
            <a:ext cx="1554480" cy="960120"/>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10 searches: 5.01 s sequential vs 0.51 s with asyncio.gather</a:t>
            </a:r>
            <a:endParaRPr lang="en-US" sz="1000" dirty="0"/>
          </a:p>
        </p:txBody>
      </p:sp>
      <p:sp>
        <p:nvSpPr>
          <p:cNvPr id="10" name="Stat1"/>
          <p:cNvSpPr/>
          <p:nvPr/>
        </p:nvSpPr>
        <p:spPr>
          <a:xfrm>
            <a:off x="5715000" y="2514600"/>
            <a:ext cx="2971800" cy="1143000"/>
          </a:xfrm>
          <a:prstGeom prst="rect">
            <a:avLst/>
          </a:prstGeom>
          <a:solidFill>
            <a:srgbClr val="FFFFFF"/>
          </a:solidFill>
          <a:ln w="9525">
            <a:solidFill>
              <a:srgbClr val="D9D4C7"/>
            </a:solidFill>
            <a:prstDash val="solid"/>
          </a:ln>
        </p:spPr>
      </p:sp>
      <p:sp>
        <p:nvSpPr>
          <p:cNvPr id="11" name="Text 8"/>
          <p:cNvSpPr txBox="1"/>
          <p:nvPr/>
        </p:nvSpPr>
        <p:spPr>
          <a:xfrm>
            <a:off x="5852160" y="2606040"/>
            <a:ext cx="1143000" cy="594360"/>
          </a:xfrm>
          <a:prstGeom prst="rect">
            <a:avLst/>
          </a:prstGeom>
          <a:noFill/>
          <a:ln/>
        </p:spPr>
        <p:txBody>
          <a:bodyPr wrap="square" lIns="0" tIns="0" rIns="0" bIns="0" rtlCol="0" anchor="ctr"/>
          <a:lstStyle/>
          <a:p>
            <a:pPr indent="0" marL="0">
              <a:buNone/>
            </a:pPr>
            <a:r>
              <a:rPr lang="en-US" sz="3000" b="1" dirty="0">
                <a:solidFill>
                  <a:srgbClr val="0F8B8D"/>
                </a:solidFill>
                <a:latin typeface="Calibri" pitchFamily="34" charset="0"/>
                <a:ea typeface="Calibri" pitchFamily="34" charset="-122"/>
                <a:cs typeface="Calibri" pitchFamily="34" charset="-120"/>
              </a:rPr>
              <a:t>4.9x</a:t>
            </a:r>
            <a:endParaRPr lang="en-US" sz="3000" dirty="0"/>
          </a:p>
        </p:txBody>
      </p:sp>
      <p:sp>
        <p:nvSpPr>
          <p:cNvPr id="12" name="Text 9"/>
          <p:cNvSpPr txBox="1"/>
          <p:nvPr/>
        </p:nvSpPr>
        <p:spPr>
          <a:xfrm>
            <a:off x="5852160" y="3172968"/>
            <a:ext cx="1143000" cy="274320"/>
          </a:xfrm>
          <a:prstGeom prst="rect">
            <a:avLst/>
          </a:prstGeom>
          <a:noFill/>
          <a:ln/>
        </p:spPr>
        <p:txBody>
          <a:bodyPr wrap="square" lIns="0" tIns="0" rIns="0" bIns="0" rtlCol="0" anchor="t"/>
          <a:lstStyle/>
          <a:p>
            <a:pPr indent="0" marL="0">
              <a:buNone/>
            </a:pPr>
            <a:r>
              <a:rPr lang="en-US" sz="1100" b="1" dirty="0">
                <a:solidFill>
                  <a:srgbClr val="14213D"/>
                </a:solidFill>
                <a:latin typeface="Calibri" pitchFamily="34" charset="0"/>
                <a:ea typeface="Calibri" pitchFamily="34" charset="-122"/>
                <a:cs typeface="Calibri" pitchFamily="34" charset="-120"/>
              </a:rPr>
              <a:t>faster</a:t>
            </a:r>
            <a:endParaRPr lang="en-US" sz="1100" dirty="0"/>
          </a:p>
        </p:txBody>
      </p:sp>
      <p:sp>
        <p:nvSpPr>
          <p:cNvPr id="13" name="Text 10"/>
          <p:cNvSpPr txBox="1"/>
          <p:nvPr/>
        </p:nvSpPr>
        <p:spPr>
          <a:xfrm>
            <a:off x="7040880" y="2606040"/>
            <a:ext cx="1554480" cy="960120"/>
          </a:xfrm>
          <a:prstGeom prst="rect">
            <a:avLst/>
          </a:prstGeom>
          <a:noFill/>
          <a:ln/>
        </p:spPr>
        <p:txBody>
          <a:bodyPr wrap="square" lIns="0" tIns="0" rIns="0" bIns="0" rtlCol="0" anchor="ctr"/>
          <a:lstStyle/>
          <a:p>
            <a:pPr indent="0" marL="0">
              <a:buNone/>
            </a:pPr>
            <a:r>
              <a:rPr lang="en-US" sz="1000" dirty="0">
                <a:solidFill>
                  <a:srgbClr val="1F2937"/>
                </a:solidFill>
                <a:latin typeface="Calibri" pitchFamily="34" charset="0"/>
                <a:ea typeface="Calibri" pitchFamily="34" charset="-122"/>
                <a:cs typeface="Calibri" pitchFamily="34" charset="-120"/>
              </a:rPr>
              <a:t>50 searches: sync server with 10 threads 2.52 s vs 0.51 s async</a:t>
            </a:r>
            <a:endParaRPr lang="en-US" sz="1000" dirty="0"/>
          </a:p>
        </p:txBody>
      </p:sp>
      <p:sp>
        <p:nvSpPr>
          <p:cNvPr id="14" name="Note0"/>
          <p:cNvSpPr/>
          <p:nvPr/>
        </p:nvSpPr>
        <p:spPr>
          <a:xfrm>
            <a:off x="457200" y="3840480"/>
            <a:ext cx="2651760" cy="868680"/>
          </a:xfrm>
          <a:prstGeom prst="rect">
            <a:avLst/>
          </a:prstGeom>
          <a:solidFill>
            <a:srgbClr val="0F8B8D"/>
          </a:solidFill>
          <a:ln w="12700">
            <a:solidFill>
              <a:srgbClr val="0F8B8D"/>
            </a:solidFill>
            <a:prstDash val="solid"/>
          </a:ln>
        </p:spPr>
      </p:sp>
      <p:sp>
        <p:nvSpPr>
          <p:cNvPr id="15" name="Text 12"/>
          <p:cNvSpPr txBox="1"/>
          <p:nvPr/>
        </p:nvSpPr>
        <p:spPr>
          <a:xfrm>
            <a:off x="566928" y="3886200"/>
            <a:ext cx="2432304" cy="7772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Run it live</a:t>
            </a:r>
            <a:endParaRPr lang="en-US" sz="1200" dirty="0"/>
          </a:p>
          <a:p>
            <a:pPr indent="0" marL="0">
              <a:buNone/>
            </a:pPr>
            <a:r>
              <a:rPr lang="en-US" sz="950" dirty="0">
                <a:solidFill>
                  <a:srgbClr val="FFFFFF"/>
                </a:solidFill>
                <a:latin typeface="Calibri" pitchFamily="34" charset="0"/>
                <a:ea typeface="Calibri" pitchFamily="34" charset="-122"/>
                <a:cs typeface="Calibri" pitchFamily="34" charset="-120"/>
              </a:rPr>
              <a:t>python async_server.py --delay 0.5, then python async_client.py</a:t>
            </a:r>
            <a:endParaRPr lang="en-US" sz="1200" dirty="0"/>
          </a:p>
        </p:txBody>
      </p:sp>
      <p:sp>
        <p:nvSpPr>
          <p:cNvPr id="16" name="Note1"/>
          <p:cNvSpPr/>
          <p:nvPr/>
        </p:nvSpPr>
        <p:spPr>
          <a:xfrm>
            <a:off x="3246120" y="3840480"/>
            <a:ext cx="2651760" cy="868680"/>
          </a:xfrm>
          <a:prstGeom prst="rect">
            <a:avLst/>
          </a:prstGeom>
          <a:solidFill>
            <a:srgbClr val="0F8B8D"/>
          </a:solidFill>
          <a:ln w="12700">
            <a:solidFill>
              <a:srgbClr val="0F8B8D"/>
            </a:solidFill>
            <a:prstDash val="solid"/>
          </a:ln>
        </p:spPr>
      </p:sp>
      <p:sp>
        <p:nvSpPr>
          <p:cNvPr id="17" name="Text 14"/>
          <p:cNvSpPr txBox="1"/>
          <p:nvPr/>
        </p:nvSpPr>
        <p:spPr>
          <a:xfrm>
            <a:off x="3355848" y="3886200"/>
            <a:ext cx="2432304" cy="7772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Honest limit</a:t>
            </a:r>
            <a:endParaRPr lang="en-US" sz="1200" dirty="0"/>
          </a:p>
          <a:p>
            <a:pPr indent="0" marL="0">
              <a:buNone/>
            </a:pPr>
            <a:r>
              <a:rPr lang="en-US" sz="950" dirty="0">
                <a:solidFill>
                  <a:srgbClr val="FFFFFF"/>
                </a:solidFill>
                <a:latin typeface="Calibri" pitchFamily="34" charset="0"/>
                <a:ea typeface="Calibri" pitchFamily="34" charset="-122"/>
                <a:cs typeface="Calibri" pitchFamily="34" charset="-120"/>
              </a:rPr>
              <a:t>Threads also work, but are capped by the pool size</a:t>
            </a:r>
            <a:endParaRPr lang="en-US" sz="1200" dirty="0"/>
          </a:p>
        </p:txBody>
      </p:sp>
      <p:sp>
        <p:nvSpPr>
          <p:cNvPr id="18" name="Note2"/>
          <p:cNvSpPr/>
          <p:nvPr/>
        </p:nvSpPr>
        <p:spPr>
          <a:xfrm>
            <a:off x="6035040" y="3840480"/>
            <a:ext cx="2651760" cy="868680"/>
          </a:xfrm>
          <a:prstGeom prst="rect">
            <a:avLst/>
          </a:prstGeom>
          <a:solidFill>
            <a:srgbClr val="0F8B8D"/>
          </a:solidFill>
          <a:ln w="12700">
            <a:solidFill>
              <a:srgbClr val="0F8B8D"/>
            </a:solidFill>
            <a:prstDash val="solid"/>
          </a:ln>
        </p:spPr>
      </p:sp>
      <p:sp>
        <p:nvSpPr>
          <p:cNvPr id="19" name="Text 16"/>
          <p:cNvSpPr txBox="1"/>
          <p:nvPr/>
        </p:nvSpPr>
        <p:spPr>
          <a:xfrm>
            <a:off x="6144768" y="3886200"/>
            <a:ext cx="2432304" cy="7772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Still correct</a:t>
            </a:r>
            <a:endParaRPr lang="en-US" sz="1200" dirty="0"/>
          </a:p>
          <a:p>
            <a:pPr indent="0" marL="0">
              <a:buNone/>
            </a:pPr>
            <a:r>
              <a:rPr lang="en-US" sz="950" dirty="0">
                <a:solidFill>
                  <a:srgbClr val="FFFFFF"/>
                </a:solidFill>
                <a:latin typeface="Calibri" pitchFamily="34" charset="0"/>
                <a:ea typeface="Calibri" pitchFamily="34" charset="-122"/>
                <a:cs typeface="Calibri" pitchFamily="34" charset="-120"/>
              </a:rPr>
              <a:t>10 rentals of the last copy: 1 winner. 50 tests pass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Textbook Rental Hub - Slides 5 and 6 (Asynchronous gRPC)</dc:title>
  <dc:subject>PptxGenJS Presentation</dc:subject>
  <dc:creator>Person 3</dc:creator>
  <cp:lastModifiedBy>Person 3</cp:lastModifiedBy>
  <cp:revision>1</cp:revision>
  <dcterms:created xsi:type="dcterms:W3CDTF">2026-10-05T07:20:38Z</dcterms:created>
  <dcterms:modified xsi:type="dcterms:W3CDTF">2026-10-05T07:20:38Z</dcterms:modified>
</cp:coreProperties>
</file>
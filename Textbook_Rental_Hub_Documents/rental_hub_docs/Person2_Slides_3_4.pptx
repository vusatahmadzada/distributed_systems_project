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unary RPCs. Message fields mirror Person 1's Book, Rental and RentalResult. The schema is the contract: both sides generate code from it, so a wrong type or misspelt field fails immediately instead of corrupting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handler is three steps: read the request, call Person 1, copy the result into a response message. Out-of-stock and unknown-book are normal results with success=False; gRPC status codes are kept for transport problems such as UNAVAILABLE and DEADLINE_EXCEEDED.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Protocol Contract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rental.proto file defines every call and every field, for server and client alike.</a:t>
            </a:r>
            <a:endParaRPr lang="en-US" sz="1400" dirty="0"/>
          </a:p>
        </p:txBody>
      </p:sp>
      <p:sp>
        <p:nvSpPr>
          <p:cNvPr id="4" name="CodePanel"/>
          <p:cNvSpPr/>
          <p:nvPr/>
        </p:nvSpPr>
        <p:spPr>
          <a:xfrm>
            <a:off x="457200" y="1325880"/>
            <a:ext cx="4297680" cy="3291840"/>
          </a:xfrm>
          <a:prstGeom prst="rect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 RentalService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RentBook(BookRequest)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(RentalResponse);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SearchBooks(SearchRequest)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(SearchResponse);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CheckStock(StockRequest)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(StockResponse);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ListActiveRentals(RentalsRequest)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(RentalsResponse);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rpc ReturnBook(ReturnRequest)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returns (RentalResponse);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RentalResponse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bool   success         = 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message         = 2;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rental_id       = 3;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int32  remaining_stock = 4;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SearchResponse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 Book books = 1;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6" name="Card0"/>
          <p:cNvSpPr/>
          <p:nvPr/>
        </p:nvSpPr>
        <p:spPr>
          <a:xfrm>
            <a:off x="5029200" y="1325880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7" name="Badge0"/>
          <p:cNvSpPr/>
          <p:nvPr/>
        </p:nvSpPr>
        <p:spPr>
          <a:xfrm>
            <a:off x="5166360" y="160020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663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399032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are checked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Book(stock="3") raises TypeError before anything is sent.</a:t>
            </a:r>
            <a:endParaRPr lang="en-US" sz="1400" dirty="0"/>
          </a:p>
        </p:txBody>
      </p:sp>
      <p:sp>
        <p:nvSpPr>
          <p:cNvPr id="10" name="Card1"/>
          <p:cNvSpPr/>
          <p:nvPr/>
        </p:nvSpPr>
        <p:spPr>
          <a:xfrm>
            <a:off x="5029200" y="2450592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11" name="Badge1"/>
          <p:cNvSpPr/>
          <p:nvPr/>
        </p:nvSpPr>
        <p:spPr>
          <a:xfrm>
            <a:off x="5166360" y="2724912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523744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not names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numbers identify data on the wire, so renaming is safe.</a:t>
            </a:r>
            <a:endParaRPr lang="en-US" sz="1400" dirty="0"/>
          </a:p>
        </p:txBody>
      </p:sp>
      <p:sp>
        <p:nvSpPr>
          <p:cNvPr id="14" name="Card2"/>
          <p:cNvSpPr/>
          <p:nvPr/>
        </p:nvSpPr>
        <p:spPr>
          <a:xfrm>
            <a:off x="5029200" y="3575304"/>
            <a:ext cx="365760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7"/>
            </a:solidFill>
            <a:prstDash val="solid"/>
          </a:ln>
        </p:spPr>
      </p:sp>
      <p:sp>
        <p:nvSpPr>
          <p:cNvPr id="15" name="Badge2"/>
          <p:cNvSpPr/>
          <p:nvPr/>
        </p:nvSpPr>
        <p:spPr>
          <a:xfrm>
            <a:off x="5166360" y="3849624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6636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3648456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ambiguity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price, int32 stock, repeated lists; no None, so an explicit found flag.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From Local OOP to gRPC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Handlers only translate: request in, Person 1 method, response out. Person 1 code is unchanged.</a:t>
            </a:r>
            <a:endParaRPr lang="en-US" sz="1400" dirty="0"/>
          </a:p>
        </p:txBody>
      </p:sp>
      <p:graphicFrame>
        <p:nvGraphicFramePr>
          <p:cNvPr id="3" name="Handler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74904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handler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 1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-&gt; response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RentBook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manager.rent_book(student_id, book_id)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BookRequest -&gt; RentalResponse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SearchBooks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search_books(keyword) or list_books()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SearchRequest -&gt; repeated Book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CheckStock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catalog.check_stock(book_id)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StockRequest -&gt; StockResponse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ListActiveRentals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manager.get_active_rentals(student_id)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RentalsRequest -&gt; repeated 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ReturnBook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manager.return_book(rental_id)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ReturnRequest -&gt; RentalResponse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Note0"/>
          <p:cNvSpPr/>
          <p:nvPr/>
        </p:nvSpPr>
        <p:spPr>
          <a:xfrm>
            <a:off x="457200" y="3840480"/>
            <a:ext cx="265176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38862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once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manager live in the servicer</a:t>
            </a:r>
            <a:endParaRPr lang="en-US" sz="1300" dirty="0"/>
          </a:p>
        </p:txBody>
      </p:sp>
      <p:sp>
        <p:nvSpPr>
          <p:cNvPr id="7" name="Note1"/>
          <p:cNvSpPr/>
          <p:nvPr/>
        </p:nvSpPr>
        <p:spPr>
          <a:xfrm>
            <a:off x="3246120" y="3840480"/>
            <a:ext cx="265176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55848" y="38862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data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success=False, not a gRPC error</a:t>
            </a:r>
            <a:endParaRPr lang="en-US" sz="1300" dirty="0"/>
          </a:p>
        </p:txBody>
      </p:sp>
      <p:sp>
        <p:nvSpPr>
          <p:cNvPr id="9" name="Note2"/>
          <p:cNvSpPr/>
          <p:nvPr/>
        </p:nvSpPr>
        <p:spPr>
          <a:xfrm>
            <a:off x="6035040" y="3840480"/>
            <a:ext cx="2651760" cy="8686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44768" y="3886200"/>
            <a:ext cx="2432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workers, Person 1 lock: 1 winner of the last copy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2026-10-03T20:04:26Z</dcterms:created>
  <dcterms:modified xsi:type="dcterms:W3CDTF">2026-10-03T20:04:26Z</dcterms:modified>
</cp:coreProperties>
</file>